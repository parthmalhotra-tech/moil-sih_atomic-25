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Garamond"/>
      <p:bold r:id="rId13"/>
      <p:boldItalic r:id="rId14"/>
    </p:embeddedFont>
    <p:embeddedFont>
      <p:font typeface="Arimo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kU54NIxrNRB960e9Exiu2Id0D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594F6F-9315-4A44-B9B4-A031003BCE09}">
  <a:tblStyle styleId="{84594F6F-9315-4A44-B9B4-A031003BCE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bold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Arimo-bold.fntdata"/><Relationship Id="rId14" Type="http://schemas.openxmlformats.org/officeDocument/2006/relationships/font" Target="fonts/Garamond-boldItalic.fntdata"/><Relationship Id="rId17" Type="http://customschemas.google.com/relationships/presentationmetadata" Target="metadata"/><Relationship Id="rId16" Type="http://schemas.openxmlformats.org/officeDocument/2006/relationships/font" Target="fonts/Arim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9" name="Google Shape;99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1" name="Google Shape;101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6" name="Google Shape;17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78" name="Google Shape;17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9" name="Google Shape;17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9" name="Google Shape;249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51" name="Google Shape;251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6" name="Google Shape;27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7" name="Google Shape;277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79" name="Google Shape;27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0" name="Google Shape;28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3" name="Google Shape;31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15" name="Google Shape;31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jp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hyperlink" Target="https://drive.google.com/file/d/1XKI97vILhN0H1dSLQsx52TQUGCgJS5Bx/view?usp=sharing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8485165" y="1277283"/>
            <a:ext cx="6957908" cy="7732452"/>
          </a:xfrm>
          <a:custGeom>
            <a:rect b="b" l="l" r="r" t="t"/>
            <a:pathLst>
              <a:path extrusionOk="0"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0282333" y="2573817"/>
            <a:ext cx="4805267" cy="5139309"/>
          </a:xfrm>
          <a:custGeom>
            <a:rect b="b" l="l" r="r" t="t"/>
            <a:pathLst>
              <a:path extrusionOk="0" h="6852412" w="6407023">
                <a:moveTo>
                  <a:pt x="0" y="0"/>
                </a:moveTo>
                <a:lnTo>
                  <a:pt x="6407023" y="0"/>
                </a:lnTo>
                <a:lnTo>
                  <a:pt x="6407023" y="6852412"/>
                </a:lnTo>
                <a:lnTo>
                  <a:pt x="0" y="685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0" r="-149476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31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TITLE PAGE</a:t>
            </a:r>
            <a:endParaRPr/>
          </a:p>
        </p:txBody>
      </p:sp>
      <p:grpSp>
        <p:nvGrpSpPr>
          <p:cNvPr id="91" name="Google Shape;91;p1"/>
          <p:cNvGrpSpPr/>
          <p:nvPr/>
        </p:nvGrpSpPr>
        <p:grpSpPr>
          <a:xfrm>
            <a:off x="496929" y="-804424"/>
            <a:ext cx="15544800" cy="3128963"/>
            <a:chOff x="0" y="-19050"/>
            <a:chExt cx="20726400" cy="417195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20726400" cy="4152900"/>
            </a:xfrm>
            <a:custGeom>
              <a:rect b="b" l="l" r="r" t="t"/>
              <a:pathLst>
                <a:path extrusionOk="0"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-47246" l="0" r="0" t="-47246"/>
              </a:stretch>
            </a:blip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1F497D"/>
                  </a:solidFill>
                  <a:latin typeface="Garamond"/>
                  <a:ea typeface="Garamond"/>
                  <a:cs typeface="Garamond"/>
                  <a:sym typeface="Garamond"/>
                </a:rPr>
                <a:t>SMART INDIA HACKATHON 2026</a:t>
              </a:r>
              <a:endParaRPr/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588369" y="3150870"/>
            <a:ext cx="8703945" cy="5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Problem Statement ID – SIH 26009</a:t>
            </a:r>
            <a:endParaRPr/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Problem Statement Title- Using AI/ML and Space Technology to Identify Manganese Reserves and Overcome Production Shortfalls (Ministry of Steel / MOIL)</a:t>
            </a:r>
            <a:endParaRPr/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Theme- Space Technology</a:t>
            </a:r>
            <a:endParaRPr/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endParaRPr/>
          </a:p>
          <a:p>
            <a:pPr indent="-190024" lvl="1" marL="380048" marR="0" rtl="0" algn="just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ATOMIC-25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"/>
          <p:cNvGrpSpPr/>
          <p:nvPr/>
        </p:nvGrpSpPr>
        <p:grpSpPr>
          <a:xfrm>
            <a:off x="274501" y="-21431"/>
            <a:ext cx="16459200" cy="1922599"/>
            <a:chOff x="0" y="-28575"/>
            <a:chExt cx="21945600" cy="2563465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21945600" cy="2534890"/>
            </a:xfrm>
            <a:custGeom>
              <a:rect b="b" l="l" r="r" t="t"/>
              <a:pathLst>
                <a:path extrusionOk="0"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3782" l="0" r="0" t="-123600"/>
              </a:stretch>
            </a:blip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3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IDEA TITLE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/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617220" y="9456968"/>
            <a:ext cx="9414471" cy="561976"/>
            <a:chOff x="0" y="-19050"/>
            <a:chExt cx="12552627" cy="7493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2552625" cy="730250"/>
            </a:xfrm>
            <a:custGeom>
              <a:rect b="b" l="l" r="r" t="t"/>
              <a:pathLst>
                <a:path extrusionOk="0" h="730250" w="12552625">
                  <a:moveTo>
                    <a:pt x="0" y="0"/>
                  </a:moveTo>
                  <a:lnTo>
                    <a:pt x="12552625" y="0"/>
                  </a:lnTo>
                  <a:lnTo>
                    <a:pt x="12552625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48950" t="-120987"/>
              </a:stretch>
            </a:blip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19050"/>
              <a:ext cx="12552627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sng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https://drive.google.com/file/d/1XKI97vILhN0H1dSLQsx52TQUGCgJS5Bx/view?usp=sharing</a:t>
              </a: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114" name="Google Shape;114;p2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ATOMIC-25</a:t>
              </a:r>
              <a:endParaRPr/>
            </a:p>
          </p:txBody>
        </p:sp>
      </p:grpSp>
      <p:sp>
        <p:nvSpPr>
          <p:cNvPr id="116" name="Google Shape;116;p2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pSp>
        <p:nvGrpSpPr>
          <p:cNvPr id="117" name="Google Shape;117;p2"/>
          <p:cNvGrpSpPr/>
          <p:nvPr/>
        </p:nvGrpSpPr>
        <p:grpSpPr>
          <a:xfrm>
            <a:off x="617220" y="2162480"/>
            <a:ext cx="6172200" cy="1411390"/>
            <a:chOff x="0" y="-85725"/>
            <a:chExt cx="8229600" cy="1881854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8229600" cy="1796129"/>
            </a:xfrm>
            <a:custGeom>
              <a:rect b="b" l="l" r="r" t="t"/>
              <a:pathLst>
                <a:path extrusionOk="0" h="1796129" w="8229600">
                  <a:moveTo>
                    <a:pt x="0" y="215565"/>
                  </a:moveTo>
                  <a:cubicBezTo>
                    <a:pt x="0" y="96557"/>
                    <a:pt x="83566" y="0"/>
                    <a:pt x="186563" y="0"/>
                  </a:cubicBezTo>
                  <a:lnTo>
                    <a:pt x="8043037" y="0"/>
                  </a:lnTo>
                  <a:cubicBezTo>
                    <a:pt x="8146034" y="0"/>
                    <a:pt x="8229600" y="96557"/>
                    <a:pt x="8229600" y="215565"/>
                  </a:cubicBezTo>
                  <a:lnTo>
                    <a:pt x="8229600" y="1580564"/>
                  </a:lnTo>
                  <a:cubicBezTo>
                    <a:pt x="8229600" y="1699572"/>
                    <a:pt x="8146034" y="1796129"/>
                    <a:pt x="8043037" y="1796129"/>
                  </a:cubicBezTo>
                  <a:lnTo>
                    <a:pt x="186563" y="1796129"/>
                  </a:lnTo>
                  <a:cubicBezTo>
                    <a:pt x="83566" y="1796129"/>
                    <a:pt x="0" y="1699572"/>
                    <a:pt x="0" y="1580564"/>
                  </a:cubicBezTo>
                  <a:close/>
                </a:path>
              </a:pathLst>
            </a:custGeom>
            <a:solidFill>
              <a:srgbClr val="4EAC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85725"/>
              <a:ext cx="8229600" cy="18818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MYVISIONAI</a:t>
              </a:r>
              <a:endParaRPr/>
            </a:p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74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Manganese Reserve &amp; Production Intelligence Using Space Technology</a:t>
              </a:r>
              <a:endParaRPr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617220" y="3875508"/>
            <a:ext cx="685800" cy="721519"/>
            <a:chOff x="0" y="-47625"/>
            <a:chExt cx="914400" cy="962025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8B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433555" y="3772924"/>
            <a:ext cx="5321808" cy="933831"/>
            <a:chOff x="0" y="-38100"/>
            <a:chExt cx="7095744" cy="1245108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7095744" cy="1207008"/>
            </a:xfrm>
            <a:custGeom>
              <a:rect b="b" l="l" r="r" t="t"/>
              <a:pathLst>
                <a:path extrusionOk="0" h="1207008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4548" l="0" r="0" t="-64548"/>
              </a:stretch>
            </a:blip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38100"/>
              <a:ext cx="7095744" cy="124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Fuses satellite spectral bands (NDVI, NDWI, BSI), geology &amp; mining history using ML</a:t>
              </a:r>
              <a:endParaRPr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617220" y="4984337"/>
            <a:ext cx="685800" cy="721519"/>
            <a:chOff x="0" y="-47625"/>
            <a:chExt cx="914400" cy="962025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8B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467612" y="4881753"/>
            <a:ext cx="5321808" cy="933831"/>
            <a:chOff x="0" y="-38100"/>
            <a:chExt cx="7095744" cy="1245108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7095744" cy="1207008"/>
            </a:xfrm>
            <a:custGeom>
              <a:rect b="b" l="l" r="r" t="t"/>
              <a:pathLst>
                <a:path extrusionOk="0" h="1207008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4548" l="0" r="0" t="-64548"/>
              </a:stretch>
            </a:blip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38100"/>
              <a:ext cx="7095744" cy="124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Two ML engines: Reserve Prediction (“Where is the ore?”) + Production Forecast (“How much?”)</a:t>
              </a:r>
              <a:endParaRPr/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617220" y="6020740"/>
            <a:ext cx="685800" cy="721519"/>
            <a:chOff x="0" y="-47625"/>
            <a:chExt cx="914400" cy="962025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8B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1467612" y="5887331"/>
            <a:ext cx="5321808" cy="933831"/>
            <a:chOff x="0" y="-38100"/>
            <a:chExt cx="7095744" cy="1245108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7095744" cy="1207008"/>
            </a:xfrm>
            <a:custGeom>
              <a:rect b="b" l="l" r="r" t="t"/>
              <a:pathLst>
                <a:path extrusionOk="0" h="1207008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4548" l="0" r="0" t="-64548"/>
              </a:stretch>
            </a:blipFill>
            <a:ln>
              <a:noFill/>
            </a:ln>
          </p:spPr>
        </p:sp>
        <p:sp>
          <p:nvSpPr>
            <p:cNvPr id="137" name="Google Shape;137;p2"/>
            <p:cNvSpPr txBox="1"/>
            <p:nvPr/>
          </p:nvSpPr>
          <p:spPr>
            <a:xfrm>
              <a:off x="0" y="-38100"/>
              <a:ext cx="7095744" cy="124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Predict (ML and Space Technology) → Explain → Recommend corrective actions</a:t>
              </a:r>
              <a:endParaRPr/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617220" y="7030390"/>
            <a:ext cx="685800" cy="721519"/>
            <a:chOff x="0" y="-47625"/>
            <a:chExt cx="914400" cy="962025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8B3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</p:grpSp>
      <p:grpSp>
        <p:nvGrpSpPr>
          <p:cNvPr id="141" name="Google Shape;141;p2"/>
          <p:cNvGrpSpPr/>
          <p:nvPr/>
        </p:nvGrpSpPr>
        <p:grpSpPr>
          <a:xfrm>
            <a:off x="1467612" y="6927806"/>
            <a:ext cx="5321808" cy="933831"/>
            <a:chOff x="0" y="-38100"/>
            <a:chExt cx="7095744" cy="1245108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7095744" cy="1207008"/>
            </a:xfrm>
            <a:custGeom>
              <a:rect b="b" l="l" r="r" t="t"/>
              <a:pathLst>
                <a:path extrusionOk="0" h="1207008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4548" l="0" r="0" t="-64548"/>
              </a:stretch>
            </a:blipFill>
            <a:ln>
              <a:noFill/>
            </a:ln>
          </p:spPr>
        </p:sp>
        <p:sp>
          <p:nvSpPr>
            <p:cNvPr id="143" name="Google Shape;143;p2"/>
            <p:cNvSpPr txBox="1"/>
            <p:nvPr/>
          </p:nvSpPr>
          <p:spPr>
            <a:xfrm>
              <a:off x="0" y="-38100"/>
              <a:ext cx="7095744" cy="124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Unified dashboard delivered to MOIL decision-makers</a:t>
              </a: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617220" y="7946280"/>
            <a:ext cx="9414471" cy="1391626"/>
            <a:chOff x="0" y="-38100"/>
            <a:chExt cx="17817286" cy="2633711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17817286" cy="2595611"/>
            </a:xfrm>
            <a:custGeom>
              <a:rect b="b" l="l" r="r" t="t"/>
              <a:pathLst>
                <a:path extrusionOk="0" h="2595611" w="17817286">
                  <a:moveTo>
                    <a:pt x="0" y="311463"/>
                  </a:moveTo>
                  <a:cubicBezTo>
                    <a:pt x="0" y="139429"/>
                    <a:pt x="52486" y="0"/>
                    <a:pt x="117245" y="0"/>
                  </a:cubicBezTo>
                  <a:lnTo>
                    <a:pt x="17700041" y="0"/>
                  </a:lnTo>
                  <a:cubicBezTo>
                    <a:pt x="17764799" y="0"/>
                    <a:pt x="17817286" y="139429"/>
                    <a:pt x="17817286" y="311463"/>
                  </a:cubicBezTo>
                  <a:lnTo>
                    <a:pt x="17817286" y="2284148"/>
                  </a:lnTo>
                  <a:cubicBezTo>
                    <a:pt x="17817286" y="2456181"/>
                    <a:pt x="17764799" y="2595611"/>
                    <a:pt x="17700041" y="2595611"/>
                  </a:cubicBezTo>
                  <a:lnTo>
                    <a:pt x="117245" y="2595611"/>
                  </a:lnTo>
                  <a:cubicBezTo>
                    <a:pt x="52486" y="2595611"/>
                    <a:pt x="0" y="2456182"/>
                    <a:pt x="0" y="2284148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38100"/>
              <a:ext cx="17817286" cy="2633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“A decision-support system that predicts manganese potential, forecasts production shortfalls, explains their causes and recommends corrective actions.”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49" u="none" cap="none" strike="noStrike">
                  <a:solidFill>
                    <a:srgbClr val="1B2A4A"/>
                  </a:solidFill>
                  <a:latin typeface="Calibri"/>
                  <a:ea typeface="Calibri"/>
                  <a:cs typeface="Calibri"/>
                  <a:sym typeface="Calibri"/>
                </a:rPr>
                <a:t>To learn more about our idea via video :</a:t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11494538" y="2545224"/>
            <a:ext cx="2752072" cy="1569576"/>
            <a:chOff x="0" y="0"/>
            <a:chExt cx="1289802" cy="735607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289802" cy="735607"/>
            </a:xfrm>
            <a:custGeom>
              <a:rect b="b" l="l" r="r" t="t"/>
              <a:pathLst>
                <a:path extrusionOk="0" h="735607" w="1289802">
                  <a:moveTo>
                    <a:pt x="644901" y="0"/>
                  </a:moveTo>
                  <a:cubicBezTo>
                    <a:pt x="288732" y="0"/>
                    <a:pt x="0" y="164671"/>
                    <a:pt x="0" y="367803"/>
                  </a:cubicBezTo>
                  <a:cubicBezTo>
                    <a:pt x="0" y="570935"/>
                    <a:pt x="288732" y="735607"/>
                    <a:pt x="644901" y="735607"/>
                  </a:cubicBezTo>
                  <a:cubicBezTo>
                    <a:pt x="1001070" y="735607"/>
                    <a:pt x="1289802" y="570935"/>
                    <a:pt x="1289802" y="367803"/>
                  </a:cubicBezTo>
                  <a:cubicBezTo>
                    <a:pt x="1289802" y="164671"/>
                    <a:pt x="1001070" y="0"/>
                    <a:pt x="644901" y="0"/>
                  </a:cubicBezTo>
                  <a:close/>
                </a:path>
              </a:pathLst>
            </a:custGeom>
            <a:solidFill>
              <a:srgbClr val="CE5F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120919" y="40388"/>
              <a:ext cx="1047964" cy="626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7551808" y="4335280"/>
            <a:ext cx="2752072" cy="1569576"/>
            <a:chOff x="0" y="0"/>
            <a:chExt cx="1289802" cy="735607"/>
          </a:xfrm>
        </p:grpSpPr>
        <p:sp>
          <p:nvSpPr>
            <p:cNvPr id="151" name="Google Shape;151;p2"/>
            <p:cNvSpPr/>
            <p:nvPr/>
          </p:nvSpPr>
          <p:spPr>
            <a:xfrm>
              <a:off x="0" y="0"/>
              <a:ext cx="1289802" cy="735607"/>
            </a:xfrm>
            <a:custGeom>
              <a:rect b="b" l="l" r="r" t="t"/>
              <a:pathLst>
                <a:path extrusionOk="0" h="735607" w="1289802">
                  <a:moveTo>
                    <a:pt x="644901" y="0"/>
                  </a:moveTo>
                  <a:cubicBezTo>
                    <a:pt x="288732" y="0"/>
                    <a:pt x="0" y="164671"/>
                    <a:pt x="0" y="367803"/>
                  </a:cubicBezTo>
                  <a:cubicBezTo>
                    <a:pt x="0" y="570935"/>
                    <a:pt x="288732" y="735607"/>
                    <a:pt x="644901" y="735607"/>
                  </a:cubicBezTo>
                  <a:cubicBezTo>
                    <a:pt x="1001070" y="735607"/>
                    <a:pt x="1289802" y="570935"/>
                    <a:pt x="1289802" y="367803"/>
                  </a:cubicBezTo>
                  <a:cubicBezTo>
                    <a:pt x="1289802" y="164671"/>
                    <a:pt x="1001070" y="0"/>
                    <a:pt x="644901" y="0"/>
                  </a:cubicBezTo>
                  <a:close/>
                </a:path>
              </a:pathLst>
            </a:custGeom>
            <a:solidFill>
              <a:srgbClr val="F3A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 txBox="1"/>
            <p:nvPr/>
          </p:nvSpPr>
          <p:spPr>
            <a:xfrm>
              <a:off x="120919" y="40388"/>
              <a:ext cx="1047964" cy="626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15437235" y="4482918"/>
            <a:ext cx="2752072" cy="1569576"/>
            <a:chOff x="0" y="0"/>
            <a:chExt cx="1289802" cy="735607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1289802" cy="735607"/>
            </a:xfrm>
            <a:custGeom>
              <a:rect b="b" l="l" r="r" t="t"/>
              <a:pathLst>
                <a:path extrusionOk="0" h="735607" w="1289802">
                  <a:moveTo>
                    <a:pt x="644901" y="0"/>
                  </a:moveTo>
                  <a:cubicBezTo>
                    <a:pt x="288732" y="0"/>
                    <a:pt x="0" y="164671"/>
                    <a:pt x="0" y="367803"/>
                  </a:cubicBezTo>
                  <a:cubicBezTo>
                    <a:pt x="0" y="570935"/>
                    <a:pt x="288732" y="735607"/>
                    <a:pt x="644901" y="735607"/>
                  </a:cubicBezTo>
                  <a:cubicBezTo>
                    <a:pt x="1001070" y="735607"/>
                    <a:pt x="1289802" y="570935"/>
                    <a:pt x="1289802" y="367803"/>
                  </a:cubicBezTo>
                  <a:cubicBezTo>
                    <a:pt x="1289802" y="164671"/>
                    <a:pt x="1001070" y="0"/>
                    <a:pt x="644901" y="0"/>
                  </a:cubicBezTo>
                  <a:close/>
                </a:path>
              </a:pathLst>
            </a:custGeom>
            <a:solidFill>
              <a:srgbClr val="F3A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120919" y="40388"/>
              <a:ext cx="1047964" cy="626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11494538" y="8238793"/>
            <a:ext cx="2752072" cy="1569576"/>
            <a:chOff x="0" y="0"/>
            <a:chExt cx="1289802" cy="735607"/>
          </a:xfrm>
        </p:grpSpPr>
        <p:sp>
          <p:nvSpPr>
            <p:cNvPr id="157" name="Google Shape;157;p2"/>
            <p:cNvSpPr/>
            <p:nvPr/>
          </p:nvSpPr>
          <p:spPr>
            <a:xfrm>
              <a:off x="0" y="0"/>
              <a:ext cx="1289802" cy="735607"/>
            </a:xfrm>
            <a:custGeom>
              <a:rect b="b" l="l" r="r" t="t"/>
              <a:pathLst>
                <a:path extrusionOk="0" h="735607" w="1289802">
                  <a:moveTo>
                    <a:pt x="644901" y="0"/>
                  </a:moveTo>
                  <a:cubicBezTo>
                    <a:pt x="288732" y="0"/>
                    <a:pt x="0" y="164671"/>
                    <a:pt x="0" y="367803"/>
                  </a:cubicBezTo>
                  <a:cubicBezTo>
                    <a:pt x="0" y="570935"/>
                    <a:pt x="288732" y="735607"/>
                    <a:pt x="644901" y="735607"/>
                  </a:cubicBezTo>
                  <a:cubicBezTo>
                    <a:pt x="1001070" y="735607"/>
                    <a:pt x="1289802" y="570935"/>
                    <a:pt x="1289802" y="367803"/>
                  </a:cubicBezTo>
                  <a:cubicBezTo>
                    <a:pt x="1289802" y="164671"/>
                    <a:pt x="1001070" y="0"/>
                    <a:pt x="644901" y="0"/>
                  </a:cubicBezTo>
                  <a:close/>
                </a:path>
              </a:pathLst>
            </a:custGeom>
            <a:solidFill>
              <a:srgbClr val="F3A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 txBox="1"/>
            <p:nvPr/>
          </p:nvSpPr>
          <p:spPr>
            <a:xfrm>
              <a:off x="120919" y="40388"/>
              <a:ext cx="1047964" cy="626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2"/>
          <p:cNvGrpSpPr/>
          <p:nvPr/>
        </p:nvGrpSpPr>
        <p:grpSpPr>
          <a:xfrm>
            <a:off x="11494538" y="5990916"/>
            <a:ext cx="2752072" cy="1569576"/>
            <a:chOff x="0" y="0"/>
            <a:chExt cx="1289802" cy="735607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1289802" cy="735607"/>
            </a:xfrm>
            <a:custGeom>
              <a:rect b="b" l="l" r="r" t="t"/>
              <a:pathLst>
                <a:path extrusionOk="0" h="735607" w="1289802">
                  <a:moveTo>
                    <a:pt x="644901" y="0"/>
                  </a:moveTo>
                  <a:cubicBezTo>
                    <a:pt x="288732" y="0"/>
                    <a:pt x="0" y="164671"/>
                    <a:pt x="0" y="367803"/>
                  </a:cubicBezTo>
                  <a:cubicBezTo>
                    <a:pt x="0" y="570935"/>
                    <a:pt x="288732" y="735607"/>
                    <a:pt x="644901" y="735607"/>
                  </a:cubicBezTo>
                  <a:cubicBezTo>
                    <a:pt x="1001070" y="735607"/>
                    <a:pt x="1289802" y="570935"/>
                    <a:pt x="1289802" y="367803"/>
                  </a:cubicBezTo>
                  <a:cubicBezTo>
                    <a:pt x="1289802" y="164671"/>
                    <a:pt x="1001070" y="0"/>
                    <a:pt x="644901" y="0"/>
                  </a:cubicBezTo>
                  <a:close/>
                </a:path>
              </a:pathLst>
            </a:custGeom>
            <a:solidFill>
              <a:srgbClr val="CE5F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120919" y="40388"/>
              <a:ext cx="1047964" cy="626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2" name="Google Shape;162;p2"/>
          <p:cNvCxnSpPr/>
          <p:nvPr/>
        </p:nvCxnSpPr>
        <p:spPr>
          <a:xfrm flipH="1">
            <a:off x="8927844" y="3330012"/>
            <a:ext cx="2566694" cy="1005268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63" name="Google Shape;163;p2"/>
          <p:cNvCxnSpPr/>
          <p:nvPr/>
        </p:nvCxnSpPr>
        <p:spPr>
          <a:xfrm>
            <a:off x="14246610" y="3330012"/>
            <a:ext cx="2566661" cy="1152906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64" name="Google Shape;164;p2"/>
          <p:cNvCxnSpPr/>
          <p:nvPr/>
        </p:nvCxnSpPr>
        <p:spPr>
          <a:xfrm>
            <a:off x="9247176" y="5947317"/>
            <a:ext cx="2236195" cy="794941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65" name="Google Shape;165;p2"/>
          <p:cNvCxnSpPr/>
          <p:nvPr/>
        </p:nvCxnSpPr>
        <p:spPr>
          <a:xfrm flipH="1">
            <a:off x="14246610" y="6052494"/>
            <a:ext cx="2566661" cy="723210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med" w="med" type="stealth"/>
          </a:ln>
        </p:spPr>
      </p:cxnSp>
      <p:cxnSp>
        <p:nvCxnSpPr>
          <p:cNvPr id="166" name="Google Shape;166;p2"/>
          <p:cNvCxnSpPr/>
          <p:nvPr/>
        </p:nvCxnSpPr>
        <p:spPr>
          <a:xfrm>
            <a:off x="12887241" y="7562291"/>
            <a:ext cx="71476" cy="676501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med" w="med" type="stealth"/>
          </a:ln>
        </p:spPr>
      </p:cxnSp>
      <p:sp>
        <p:nvSpPr>
          <p:cNvPr id="167" name="Google Shape;167;p2"/>
          <p:cNvSpPr txBox="1"/>
          <p:nvPr/>
        </p:nvSpPr>
        <p:spPr>
          <a:xfrm>
            <a:off x="11494538" y="2810899"/>
            <a:ext cx="284178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 • Geological + Satellite + Historical Mining​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7551808" y="4772406"/>
            <a:ext cx="2752072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RESERVE PREDICTION​</a:t>
            </a:r>
            <a:endParaRPr/>
          </a:p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is the ore?​</a:t>
            </a:r>
            <a:endParaRPr/>
          </a:p>
          <a:p>
            <a:pPr indent="0" lvl="0" marL="0" marR="0" rtl="0" algn="ctr">
              <a:lnSpc>
                <a:spcPct val="827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4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15434213" y="4929569"/>
            <a:ext cx="2752072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FORECAST​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much ore?​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4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11494538" y="6589967"/>
            <a:ext cx="27520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/ DECISION ENGINE​</a:t>
            </a:r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11735914" y="8690206"/>
            <a:ext cx="235902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 ACTIONS​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11066250" y="4367050"/>
            <a:ext cx="37281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9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/>
          </a:p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9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3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183" name="Google Shape;183;p3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TECHNICAL APPROACH</a:t>
              </a:r>
              <a:endParaRPr/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67986" y="2358523"/>
            <a:ext cx="7645384" cy="7449846"/>
            <a:chOff x="0" y="-28575"/>
            <a:chExt cx="2013599" cy="1962099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2013599" cy="1933524"/>
            </a:xfrm>
            <a:custGeom>
              <a:rect b="b" l="l" r="r" t="t"/>
              <a:pathLst>
                <a:path extrusionOk="0" h="1933524" w="2013599">
                  <a:moveTo>
                    <a:pt x="0" y="0"/>
                  </a:moveTo>
                  <a:lnTo>
                    <a:pt x="2013599" y="0"/>
                  </a:lnTo>
                  <a:lnTo>
                    <a:pt x="2013599" y="1933524"/>
                  </a:lnTo>
                  <a:lnTo>
                    <a:pt x="0" y="1933524"/>
                  </a:lnTo>
                  <a:close/>
                </a:path>
              </a:pathLst>
            </a:custGeom>
            <a:solidFill>
              <a:srgbClr val="FBFCF9">
                <a:alpha val="81961"/>
              </a:srgbClr>
            </a:solidFill>
            <a:ln cap="sq" cmpd="sng" w="38100">
              <a:solidFill>
                <a:srgbClr val="4EACAF">
                  <a:alpha val="81961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6" name="Google Shape;186;p3"/>
            <p:cNvSpPr txBox="1"/>
            <p:nvPr/>
          </p:nvSpPr>
          <p:spPr>
            <a:xfrm>
              <a:off x="0" y="-28575"/>
              <a:ext cx="2013599" cy="1962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3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188" name="Google Shape;188;p3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ATOMIC-25</a:t>
              </a:r>
              <a:endParaRPr/>
            </a:p>
          </p:txBody>
        </p:sp>
      </p:grpSp>
      <p:sp>
        <p:nvSpPr>
          <p:cNvPr id="190" name="Google Shape;190;p3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pSp>
        <p:nvGrpSpPr>
          <p:cNvPr id="191" name="Google Shape;191;p3"/>
          <p:cNvGrpSpPr/>
          <p:nvPr/>
        </p:nvGrpSpPr>
        <p:grpSpPr>
          <a:xfrm>
            <a:off x="1711792" y="2762917"/>
            <a:ext cx="3771900" cy="734663"/>
            <a:chOff x="0" y="-28575"/>
            <a:chExt cx="5029200" cy="979551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8DAB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1.  Data Ingestion &amp; Cleaning</a:t>
              </a:r>
              <a:endParaRPr/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2665056" y="3942493"/>
            <a:ext cx="3771900" cy="734663"/>
            <a:chOff x="0" y="-28575"/>
            <a:chExt cx="5029200" cy="979551"/>
          </a:xfrm>
        </p:grpSpPr>
        <p:sp>
          <p:nvSpPr>
            <p:cNvPr id="195" name="Google Shape;195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B38B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2.  Feature Engineering  (Geological + Satellite + Historical Mining)</a:t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1711792" y="5122450"/>
            <a:ext cx="3771900" cy="734663"/>
            <a:chOff x="0" y="-28575"/>
            <a:chExt cx="5029200" cy="979551"/>
          </a:xfrm>
        </p:grpSpPr>
        <p:sp>
          <p:nvSpPr>
            <p:cNvPr id="198" name="Google Shape;198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F3A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3.  Reserve Model  &amp;  Production Model  (XGBoost)</a:t>
              </a:r>
              <a:endParaRPr/>
            </a:p>
          </p:txBody>
        </p:sp>
      </p:grpSp>
      <p:grpSp>
        <p:nvGrpSpPr>
          <p:cNvPr id="200" name="Google Shape;200;p3"/>
          <p:cNvGrpSpPr/>
          <p:nvPr/>
        </p:nvGrpSpPr>
        <p:grpSpPr>
          <a:xfrm>
            <a:off x="2665056" y="6322026"/>
            <a:ext cx="3771900" cy="734663"/>
            <a:chOff x="0" y="-28575"/>
            <a:chExt cx="5029200" cy="979551"/>
          </a:xfrm>
        </p:grpSpPr>
        <p:sp>
          <p:nvSpPr>
            <p:cNvPr id="201" name="Google Shape;201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CE5F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4. PREDICTION OF PROSPECTIVITY AND PRODUCTION </a:t>
              </a:r>
              <a:endParaRPr/>
            </a:p>
          </p:txBody>
        </p:sp>
      </p:grpSp>
      <p:grpSp>
        <p:nvGrpSpPr>
          <p:cNvPr id="203" name="Google Shape;203;p3"/>
          <p:cNvGrpSpPr/>
          <p:nvPr/>
        </p:nvGrpSpPr>
        <p:grpSpPr>
          <a:xfrm>
            <a:off x="1711792" y="7474172"/>
            <a:ext cx="3771900" cy="734663"/>
            <a:chOff x="0" y="-28575"/>
            <a:chExt cx="5029200" cy="979551"/>
          </a:xfrm>
        </p:grpSpPr>
        <p:sp>
          <p:nvSpPr>
            <p:cNvPr id="204" name="Google Shape;204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5.  Recommendation Engine</a:t>
              </a:r>
              <a:endParaRPr/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2665056" y="8654129"/>
            <a:ext cx="3771900" cy="734663"/>
            <a:chOff x="0" y="-28575"/>
            <a:chExt cx="5029200" cy="979551"/>
          </a:xfrm>
        </p:grpSpPr>
        <p:sp>
          <p:nvSpPr>
            <p:cNvPr id="207" name="Google Shape;207;p3"/>
            <p:cNvSpPr/>
            <p:nvPr/>
          </p:nvSpPr>
          <p:spPr>
            <a:xfrm>
              <a:off x="0" y="0"/>
              <a:ext cx="5029200" cy="950976"/>
            </a:xfrm>
            <a:custGeom>
              <a:rect b="b" l="l" r="r" t="t"/>
              <a:pathLst>
                <a:path extrusionOk="0" h="950976" w="5029200">
                  <a:moveTo>
                    <a:pt x="0" y="142621"/>
                  </a:moveTo>
                  <a:cubicBezTo>
                    <a:pt x="0" y="63881"/>
                    <a:pt x="31941" y="0"/>
                    <a:pt x="71310" y="0"/>
                  </a:cubicBezTo>
                  <a:lnTo>
                    <a:pt x="4957890" y="0"/>
                  </a:lnTo>
                  <a:cubicBezTo>
                    <a:pt x="4997259" y="0"/>
                    <a:pt x="5029200" y="63881"/>
                    <a:pt x="5029200" y="142621"/>
                  </a:cubicBezTo>
                  <a:lnTo>
                    <a:pt x="5029200" y="808355"/>
                  </a:lnTo>
                  <a:cubicBezTo>
                    <a:pt x="5029200" y="887095"/>
                    <a:pt x="4997259" y="950976"/>
                    <a:pt x="4957890" y="950976"/>
                  </a:cubicBezTo>
                  <a:lnTo>
                    <a:pt x="71310" y="950976"/>
                  </a:lnTo>
                  <a:cubicBezTo>
                    <a:pt x="31941" y="950976"/>
                    <a:pt x="0" y="887095"/>
                    <a:pt x="0" y="808355"/>
                  </a:cubicBezTo>
                  <a:close/>
                </a:path>
              </a:pathLst>
            </a:custGeom>
            <a:solidFill>
              <a:srgbClr val="588D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0" y="-28575"/>
              <a:ext cx="5029200" cy="97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6.  FastAPI Backend  →  React Dashboard</a:t>
              </a:r>
              <a:endParaRPr/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8404117" y="8792241"/>
            <a:ext cx="9883883" cy="1223868"/>
            <a:chOff x="0" y="-47625"/>
            <a:chExt cx="13178511" cy="1631823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13178510" cy="1584198"/>
            </a:xfrm>
            <a:custGeom>
              <a:rect b="b" l="l" r="r" t="t"/>
              <a:pathLst>
                <a:path extrusionOk="0" h="1584198" w="13178510">
                  <a:moveTo>
                    <a:pt x="0" y="158420"/>
                  </a:moveTo>
                  <a:cubicBezTo>
                    <a:pt x="0" y="70959"/>
                    <a:pt x="89437" y="0"/>
                    <a:pt x="199674" y="0"/>
                  </a:cubicBezTo>
                  <a:lnTo>
                    <a:pt x="12978836" y="0"/>
                  </a:lnTo>
                  <a:cubicBezTo>
                    <a:pt x="13089074" y="0"/>
                    <a:pt x="13178510" y="70959"/>
                    <a:pt x="13178510" y="158420"/>
                  </a:cubicBezTo>
                  <a:lnTo>
                    <a:pt x="13178510" y="1425778"/>
                  </a:lnTo>
                  <a:cubicBezTo>
                    <a:pt x="13178510" y="1513239"/>
                    <a:pt x="13089074" y="1584198"/>
                    <a:pt x="12978836" y="1584198"/>
                  </a:cubicBezTo>
                  <a:lnTo>
                    <a:pt x="199674" y="1584198"/>
                  </a:lnTo>
                  <a:cubicBezTo>
                    <a:pt x="89437" y="1584198"/>
                    <a:pt x="0" y="1513239"/>
                    <a:pt x="0" y="1425778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 txBox="1"/>
            <p:nvPr/>
          </p:nvSpPr>
          <p:spPr>
            <a:xfrm>
              <a:off x="0" y="-47625"/>
              <a:ext cx="13178511" cy="163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Demonstrates the complete intelligence pipeline for manganese prospectivity, production and  prediction using representative/public mining data, with an architecture designed to seamlessly integrate MOIL's real data.</a:t>
              </a:r>
              <a:endParaRPr/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5564969" y="3111146"/>
            <a:ext cx="2018179" cy="1178639"/>
          </a:xfrm>
          <a:custGeom>
            <a:rect b="b" l="l" r="r" t="t"/>
            <a:pathLst>
              <a:path extrusionOk="0" h="1178639" w="2018179">
                <a:moveTo>
                  <a:pt x="0" y="0"/>
                </a:moveTo>
                <a:quadBezTo>
                  <a:pt x="3350372" y="134804"/>
                  <a:pt x="1138803" y="1178639"/>
                </a:quadBezTo>
              </a:path>
            </a:pathLst>
          </a:cu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5517029" y="5521434"/>
            <a:ext cx="1862113" cy="1178639"/>
          </a:xfrm>
          <a:custGeom>
            <a:rect b="b" l="l" r="r" t="t"/>
            <a:pathLst>
              <a:path extrusionOk="0" h="1178639" w="1862113">
                <a:moveTo>
                  <a:pt x="0" y="0"/>
                </a:moveTo>
                <a:quadBezTo>
                  <a:pt x="3186672" y="319076"/>
                  <a:pt x="919927" y="1178639"/>
                </a:quadBezTo>
              </a:path>
            </a:pathLst>
          </a:cu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5516864" y="7958893"/>
            <a:ext cx="1908048" cy="1201915"/>
          </a:xfrm>
          <a:custGeom>
            <a:rect b="b" l="l" r="r" t="t"/>
            <a:pathLst>
              <a:path extrusionOk="0" h="1201915" w="1908048">
                <a:moveTo>
                  <a:pt x="0" y="0"/>
                </a:moveTo>
                <a:quadBezTo>
                  <a:pt x="3241703" y="318662"/>
                  <a:pt x="975873" y="1201915"/>
                </a:quadBezTo>
              </a:path>
            </a:pathLst>
          </a:cu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628464" y="4320578"/>
            <a:ext cx="2008004" cy="1179919"/>
          </a:xfrm>
          <a:custGeom>
            <a:rect b="b" l="l" r="r" t="t"/>
            <a:pathLst>
              <a:path extrusionOk="0" h="1179919" w="2008004">
                <a:moveTo>
                  <a:pt x="1083328" y="1179919"/>
                </a:moveTo>
                <a:quadBezTo>
                  <a:pt x="-1474899" y="699890"/>
                  <a:pt x="2008005" y="0"/>
                </a:quadBezTo>
              </a:path>
            </a:pathLst>
          </a:cu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563264" y="6765899"/>
            <a:ext cx="2040005" cy="1133367"/>
          </a:xfrm>
          <a:custGeom>
            <a:rect b="b" l="l" r="r" t="t"/>
            <a:pathLst>
              <a:path extrusionOk="0" h="1133367" w="2040005">
                <a:moveTo>
                  <a:pt x="1060683" y="1133367"/>
                </a:moveTo>
                <a:quadBezTo>
                  <a:pt x="-1470986" y="530651"/>
                  <a:pt x="2040005" y="0"/>
                </a:quadBezTo>
              </a:path>
            </a:pathLst>
          </a:custGeom>
          <a:noFill/>
          <a:ln cap="flat" cmpd="sng" w="666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3"/>
          <p:cNvGrpSpPr/>
          <p:nvPr/>
        </p:nvGrpSpPr>
        <p:grpSpPr>
          <a:xfrm>
            <a:off x="8104184" y="1886555"/>
            <a:ext cx="5685002" cy="6254209"/>
            <a:chOff x="0" y="-28575"/>
            <a:chExt cx="1497285" cy="1647199"/>
          </a:xfrm>
        </p:grpSpPr>
        <p:sp>
          <p:nvSpPr>
            <p:cNvPr id="218" name="Google Shape;218;p3"/>
            <p:cNvSpPr/>
            <p:nvPr/>
          </p:nvSpPr>
          <p:spPr>
            <a:xfrm>
              <a:off x="0" y="0"/>
              <a:ext cx="1497285" cy="1618624"/>
            </a:xfrm>
            <a:custGeom>
              <a:rect b="b" l="l" r="r" t="t"/>
              <a:pathLst>
                <a:path extrusionOk="0" h="1618624" w="1497285">
                  <a:moveTo>
                    <a:pt x="0" y="0"/>
                  </a:moveTo>
                  <a:lnTo>
                    <a:pt x="1497285" y="0"/>
                  </a:lnTo>
                  <a:lnTo>
                    <a:pt x="1497285" y="1618624"/>
                  </a:lnTo>
                  <a:lnTo>
                    <a:pt x="0" y="1618624"/>
                  </a:lnTo>
                  <a:close/>
                </a:path>
              </a:pathLst>
            </a:custGeom>
            <a:solidFill>
              <a:srgbClr val="FBFCF9">
                <a:alpha val="80000"/>
              </a:srgbClr>
            </a:solidFill>
            <a:ln cap="sq" cmpd="sng" w="38100">
              <a:solidFill>
                <a:srgbClr val="4EACAF">
                  <a:alpha val="8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9" name="Google Shape;219;p3"/>
            <p:cNvSpPr txBox="1"/>
            <p:nvPr/>
          </p:nvSpPr>
          <p:spPr>
            <a:xfrm>
              <a:off x="0" y="-28575"/>
              <a:ext cx="1497285" cy="1647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8358540" y="2138364"/>
            <a:ext cx="5193549" cy="832615"/>
            <a:chOff x="0" y="-28575"/>
            <a:chExt cx="6924731" cy="1110154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6924731" cy="1081579"/>
            </a:xfrm>
            <a:custGeom>
              <a:rect b="b" l="l" r="r" t="t"/>
              <a:pathLst>
                <a:path extrusionOk="0" h="1081579" w="6924731">
                  <a:moveTo>
                    <a:pt x="0" y="162208"/>
                  </a:moveTo>
                  <a:cubicBezTo>
                    <a:pt x="0" y="72654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72654"/>
                    <a:pt x="6924731" y="162208"/>
                  </a:cubicBezTo>
                  <a:lnTo>
                    <a:pt x="6924731" y="919371"/>
                  </a:lnTo>
                  <a:cubicBezTo>
                    <a:pt x="6924731" y="1008925"/>
                    <a:pt x="6880751" y="1081579"/>
                    <a:pt x="6826543" y="1081579"/>
                  </a:cubicBezTo>
                  <a:lnTo>
                    <a:pt x="98188" y="1081579"/>
                  </a:lnTo>
                  <a:cubicBezTo>
                    <a:pt x="43979" y="1081579"/>
                    <a:pt x="0" y="1008925"/>
                    <a:pt x="0" y="919371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-28575"/>
              <a:ext cx="6924730" cy="1110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1. DATA INGESTION 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Sentinel-2 Imagery (B02-B12, NDVI, BSI) + SRTM DEM (Elevation, Slope)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 Historical Mine Yield Logs + Real-Time Rain &amp; Weather</a:t>
              </a:r>
              <a:endParaRPr/>
            </a:p>
          </p:txBody>
        </p:sp>
      </p:grpSp>
      <p:grpSp>
        <p:nvGrpSpPr>
          <p:cNvPr id="223" name="Google Shape;223;p3"/>
          <p:cNvGrpSpPr/>
          <p:nvPr/>
        </p:nvGrpSpPr>
        <p:grpSpPr>
          <a:xfrm>
            <a:off x="8358540" y="3035274"/>
            <a:ext cx="5193549" cy="785775"/>
            <a:chOff x="0" y="-28575"/>
            <a:chExt cx="6924731" cy="1047701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6924731" cy="1019126"/>
            </a:xfrm>
            <a:custGeom>
              <a:rect b="b" l="l" r="r" t="t"/>
              <a:pathLst>
                <a:path extrusionOk="0" h="1019126" w="6924731">
                  <a:moveTo>
                    <a:pt x="0" y="152842"/>
                  </a:moveTo>
                  <a:cubicBezTo>
                    <a:pt x="0" y="68459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68459"/>
                    <a:pt x="6924731" y="152842"/>
                  </a:cubicBezTo>
                  <a:lnTo>
                    <a:pt x="6924731" y="866284"/>
                  </a:lnTo>
                  <a:cubicBezTo>
                    <a:pt x="6924731" y="950667"/>
                    <a:pt x="6880751" y="1019126"/>
                    <a:pt x="6826543" y="1019126"/>
                  </a:cubicBezTo>
                  <a:lnTo>
                    <a:pt x="98188" y="1019126"/>
                  </a:lnTo>
                  <a:cubicBezTo>
                    <a:pt x="43979" y="1019126"/>
                    <a:pt x="0" y="950667"/>
                    <a:pt x="0" y="866284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 txBox="1"/>
            <p:nvPr/>
          </p:nvSpPr>
          <p:spPr>
            <a:xfrm>
              <a:off x="0" y="-28575"/>
              <a:ext cx="6924730" cy="104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2. ETL &amp; FEATURE ENGINEERING 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Historical Production + Lag Features + Rolling Statistics + Month/Trend Feature</a:t>
              </a:r>
              <a:endParaRPr/>
            </a:p>
          </p:txBody>
        </p:sp>
      </p:grpSp>
      <p:grpSp>
        <p:nvGrpSpPr>
          <p:cNvPr id="226" name="Google Shape;226;p3"/>
          <p:cNvGrpSpPr/>
          <p:nvPr/>
        </p:nvGrpSpPr>
        <p:grpSpPr>
          <a:xfrm>
            <a:off x="8358540" y="3885343"/>
            <a:ext cx="5193549" cy="633616"/>
            <a:chOff x="0" y="-28575"/>
            <a:chExt cx="6924731" cy="844822"/>
          </a:xfrm>
        </p:grpSpPr>
        <p:sp>
          <p:nvSpPr>
            <p:cNvPr id="227" name="Google Shape;227;p3"/>
            <p:cNvSpPr/>
            <p:nvPr/>
          </p:nvSpPr>
          <p:spPr>
            <a:xfrm>
              <a:off x="0" y="0"/>
              <a:ext cx="6924731" cy="816247"/>
            </a:xfrm>
            <a:custGeom>
              <a:rect b="b" l="l" r="r" t="t"/>
              <a:pathLst>
                <a:path extrusionOk="0" h="816247" w="6924731">
                  <a:moveTo>
                    <a:pt x="0" y="122415"/>
                  </a:moveTo>
                  <a:cubicBezTo>
                    <a:pt x="0" y="54831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54831"/>
                    <a:pt x="6924731" y="122415"/>
                  </a:cubicBezTo>
                  <a:lnTo>
                    <a:pt x="6924731" y="693832"/>
                  </a:lnTo>
                  <a:cubicBezTo>
                    <a:pt x="6924731" y="761416"/>
                    <a:pt x="6880751" y="816247"/>
                    <a:pt x="6826543" y="816247"/>
                  </a:cubicBezTo>
                  <a:lnTo>
                    <a:pt x="98188" y="816247"/>
                  </a:lnTo>
                  <a:cubicBezTo>
                    <a:pt x="43979" y="816247"/>
                    <a:pt x="0" y="761416"/>
                    <a:pt x="0" y="693832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 txBox="1"/>
            <p:nvPr/>
          </p:nvSpPr>
          <p:spPr>
            <a:xfrm>
              <a:off x="0" y="-28575"/>
              <a:ext cx="6924730" cy="844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3. PROSPECTIVITY PREDICTION ENGINE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HistGradientBoosting + LightGBM + XGBoost</a:t>
              </a:r>
              <a:endParaRPr/>
            </a:p>
          </p:txBody>
        </p:sp>
      </p:grpSp>
      <p:grpSp>
        <p:nvGrpSpPr>
          <p:cNvPr id="229" name="Google Shape;229;p3"/>
          <p:cNvGrpSpPr/>
          <p:nvPr/>
        </p:nvGrpSpPr>
        <p:grpSpPr>
          <a:xfrm>
            <a:off x="8358540" y="4583253"/>
            <a:ext cx="5193549" cy="817634"/>
            <a:chOff x="0" y="-28575"/>
            <a:chExt cx="6924731" cy="1090179"/>
          </a:xfrm>
        </p:grpSpPr>
        <p:sp>
          <p:nvSpPr>
            <p:cNvPr id="230" name="Google Shape;230;p3"/>
            <p:cNvSpPr/>
            <p:nvPr/>
          </p:nvSpPr>
          <p:spPr>
            <a:xfrm>
              <a:off x="0" y="0"/>
              <a:ext cx="6924731" cy="1061604"/>
            </a:xfrm>
            <a:custGeom>
              <a:rect b="b" l="l" r="r" t="t"/>
              <a:pathLst>
                <a:path extrusionOk="0" h="1061604" w="6924731">
                  <a:moveTo>
                    <a:pt x="0" y="159212"/>
                  </a:moveTo>
                  <a:cubicBezTo>
                    <a:pt x="0" y="71312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71312"/>
                    <a:pt x="6924731" y="159212"/>
                  </a:cubicBezTo>
                  <a:lnTo>
                    <a:pt x="6924731" y="902392"/>
                  </a:lnTo>
                  <a:cubicBezTo>
                    <a:pt x="6924731" y="990292"/>
                    <a:pt x="6880751" y="1061604"/>
                    <a:pt x="6826543" y="1061604"/>
                  </a:cubicBezTo>
                  <a:lnTo>
                    <a:pt x="98188" y="1061604"/>
                  </a:lnTo>
                  <a:cubicBezTo>
                    <a:pt x="43979" y="1061604"/>
                    <a:pt x="0" y="990292"/>
                    <a:pt x="0" y="902392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 txBox="1"/>
            <p:nvPr/>
          </p:nvSpPr>
          <p:spPr>
            <a:xfrm>
              <a:off x="0" y="-28575"/>
              <a:ext cx="6924730" cy="1090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4. PRODUCTION FORECAST ENGINE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 Classifier +  Monthly Production Forecast + ⁠Predicts Next-Month Output + Production Trend Estimation</a:t>
              </a:r>
              <a:endParaRPr/>
            </a:p>
          </p:txBody>
        </p:sp>
      </p:grpSp>
      <p:grpSp>
        <p:nvGrpSpPr>
          <p:cNvPr id="232" name="Google Shape;232;p3"/>
          <p:cNvGrpSpPr/>
          <p:nvPr/>
        </p:nvGrpSpPr>
        <p:grpSpPr>
          <a:xfrm>
            <a:off x="8358540" y="5465181"/>
            <a:ext cx="5193549" cy="800269"/>
            <a:chOff x="0" y="-28575"/>
            <a:chExt cx="6924731" cy="1067026"/>
          </a:xfrm>
        </p:grpSpPr>
        <p:sp>
          <p:nvSpPr>
            <p:cNvPr id="233" name="Google Shape;233;p3"/>
            <p:cNvSpPr/>
            <p:nvPr/>
          </p:nvSpPr>
          <p:spPr>
            <a:xfrm>
              <a:off x="0" y="0"/>
              <a:ext cx="6924731" cy="1038451"/>
            </a:xfrm>
            <a:custGeom>
              <a:rect b="b" l="l" r="r" t="t"/>
              <a:pathLst>
                <a:path extrusionOk="0" h="1038451" w="6924731">
                  <a:moveTo>
                    <a:pt x="0" y="155740"/>
                  </a:moveTo>
                  <a:cubicBezTo>
                    <a:pt x="0" y="69757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69757"/>
                    <a:pt x="6924731" y="155740"/>
                  </a:cubicBezTo>
                  <a:lnTo>
                    <a:pt x="6924731" y="882711"/>
                  </a:lnTo>
                  <a:cubicBezTo>
                    <a:pt x="6924731" y="968694"/>
                    <a:pt x="6880751" y="1038451"/>
                    <a:pt x="6826543" y="1038451"/>
                  </a:cubicBezTo>
                  <a:lnTo>
                    <a:pt x="98188" y="1038451"/>
                  </a:lnTo>
                  <a:cubicBezTo>
                    <a:pt x="43979" y="1038451"/>
                    <a:pt x="0" y="968694"/>
                    <a:pt x="0" y="882711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 txBox="1"/>
            <p:nvPr/>
          </p:nvSpPr>
          <p:spPr>
            <a:xfrm>
              <a:off x="0" y="-28575"/>
              <a:ext cx="6924730" cy="10670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5. AI RECOMMENDATION 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Google Gemini Chatbot + Production Target Recommendations + Operational Alerts</a:t>
              </a:r>
              <a:endParaRPr/>
            </a:p>
          </p:txBody>
        </p:sp>
      </p:grpSp>
      <p:grpSp>
        <p:nvGrpSpPr>
          <p:cNvPr id="235" name="Google Shape;235;p3"/>
          <p:cNvGrpSpPr/>
          <p:nvPr/>
        </p:nvGrpSpPr>
        <p:grpSpPr>
          <a:xfrm>
            <a:off x="8358540" y="6329744"/>
            <a:ext cx="5193549" cy="742746"/>
            <a:chOff x="0" y="-28575"/>
            <a:chExt cx="6924731" cy="990328"/>
          </a:xfrm>
        </p:grpSpPr>
        <p:sp>
          <p:nvSpPr>
            <p:cNvPr id="236" name="Google Shape;236;p3"/>
            <p:cNvSpPr/>
            <p:nvPr/>
          </p:nvSpPr>
          <p:spPr>
            <a:xfrm>
              <a:off x="0" y="0"/>
              <a:ext cx="6924731" cy="961753"/>
            </a:xfrm>
            <a:custGeom>
              <a:rect b="b" l="l" r="r" t="t"/>
              <a:pathLst>
                <a:path extrusionOk="0" h="961753" w="6924731">
                  <a:moveTo>
                    <a:pt x="0" y="144237"/>
                  </a:moveTo>
                  <a:cubicBezTo>
                    <a:pt x="0" y="64605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64605"/>
                    <a:pt x="6924731" y="144237"/>
                  </a:cubicBezTo>
                  <a:lnTo>
                    <a:pt x="6924731" y="817516"/>
                  </a:lnTo>
                  <a:cubicBezTo>
                    <a:pt x="6924731" y="897148"/>
                    <a:pt x="6880751" y="961753"/>
                    <a:pt x="6826543" y="961753"/>
                  </a:cubicBezTo>
                  <a:lnTo>
                    <a:pt x="98188" y="961753"/>
                  </a:lnTo>
                  <a:cubicBezTo>
                    <a:pt x="43979" y="961753"/>
                    <a:pt x="0" y="897148"/>
                    <a:pt x="0" y="817516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 txBox="1"/>
            <p:nvPr/>
          </p:nvSpPr>
          <p:spPr>
            <a:xfrm>
              <a:off x="0" y="-28575"/>
              <a:ext cx="6924730" cy="990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6. FASTAPI REST BACKEND 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⁠FastAPI REST APIs + Pydantic Validation + ML Model Inference + ⁠JSON Response Handling</a:t>
              </a:r>
              <a:endParaRPr/>
            </a:p>
          </p:txBody>
        </p:sp>
      </p:grpSp>
      <p:grpSp>
        <p:nvGrpSpPr>
          <p:cNvPr id="238" name="Google Shape;238;p3"/>
          <p:cNvGrpSpPr/>
          <p:nvPr/>
        </p:nvGrpSpPr>
        <p:grpSpPr>
          <a:xfrm>
            <a:off x="8358540" y="7136784"/>
            <a:ext cx="5193549" cy="764260"/>
            <a:chOff x="0" y="-28575"/>
            <a:chExt cx="6924731" cy="1019014"/>
          </a:xfrm>
        </p:grpSpPr>
        <p:sp>
          <p:nvSpPr>
            <p:cNvPr id="239" name="Google Shape;239;p3"/>
            <p:cNvSpPr/>
            <p:nvPr/>
          </p:nvSpPr>
          <p:spPr>
            <a:xfrm>
              <a:off x="0" y="0"/>
              <a:ext cx="6924731" cy="990439"/>
            </a:xfrm>
            <a:custGeom>
              <a:rect b="b" l="l" r="r" t="t"/>
              <a:pathLst>
                <a:path extrusionOk="0" h="990439" w="6924731">
                  <a:moveTo>
                    <a:pt x="0" y="148539"/>
                  </a:moveTo>
                  <a:cubicBezTo>
                    <a:pt x="0" y="66532"/>
                    <a:pt x="43979" y="0"/>
                    <a:pt x="98188" y="0"/>
                  </a:cubicBezTo>
                  <a:lnTo>
                    <a:pt x="6826543" y="0"/>
                  </a:lnTo>
                  <a:cubicBezTo>
                    <a:pt x="6880751" y="0"/>
                    <a:pt x="6924731" y="66532"/>
                    <a:pt x="6924731" y="148539"/>
                  </a:cubicBezTo>
                  <a:lnTo>
                    <a:pt x="6924731" y="841900"/>
                  </a:lnTo>
                  <a:cubicBezTo>
                    <a:pt x="6924731" y="923907"/>
                    <a:pt x="6880751" y="990439"/>
                    <a:pt x="6826543" y="990439"/>
                  </a:cubicBezTo>
                  <a:lnTo>
                    <a:pt x="98188" y="990439"/>
                  </a:lnTo>
                  <a:cubicBezTo>
                    <a:pt x="43979" y="990439"/>
                    <a:pt x="0" y="923907"/>
                    <a:pt x="0" y="841900"/>
                  </a:cubicBezTo>
                  <a:close/>
                </a:path>
              </a:pathLst>
            </a:custGeom>
            <a:solidFill>
              <a:srgbClr val="3E5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 txBox="1"/>
            <p:nvPr/>
          </p:nvSpPr>
          <p:spPr>
            <a:xfrm>
              <a:off x="0" y="-28575"/>
              <a:ext cx="6924730" cy="10190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7. REACT COMMAND DASHBOARD (FRONTEND) </a:t>
              </a:r>
              <a:endParaRPr/>
            </a:p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• Interactive GIS Layer Overlay • Live Recommendation Action Cards • API Flow Verification </a:t>
              </a:r>
              <a:endParaRPr/>
            </a:p>
          </p:txBody>
        </p:sp>
      </p:grpSp>
      <p:sp>
        <p:nvSpPr>
          <p:cNvPr id="241" name="Google Shape;241;p3"/>
          <p:cNvSpPr/>
          <p:nvPr/>
        </p:nvSpPr>
        <p:spPr>
          <a:xfrm>
            <a:off x="13979686" y="2214237"/>
            <a:ext cx="4135143" cy="6461324"/>
          </a:xfrm>
          <a:custGeom>
            <a:rect b="b" l="l" r="r" t="t"/>
            <a:pathLst>
              <a:path extrusionOk="0" h="6461324" w="4135143">
                <a:moveTo>
                  <a:pt x="0" y="0"/>
                </a:moveTo>
                <a:lnTo>
                  <a:pt x="4135143" y="0"/>
                </a:lnTo>
                <a:lnTo>
                  <a:pt x="4135143" y="6461323"/>
                </a:lnTo>
                <a:lnTo>
                  <a:pt x="0" y="6461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7" l="0" r="-5775" t="-277"/>
            </a:stretch>
          </a:blipFill>
          <a:ln>
            <a:noFill/>
          </a:ln>
        </p:spPr>
      </p:sp>
      <p:sp>
        <p:nvSpPr>
          <p:cNvPr id="242" name="Google Shape;242;p3"/>
          <p:cNvSpPr txBox="1"/>
          <p:nvPr/>
        </p:nvSpPr>
        <p:spPr>
          <a:xfrm>
            <a:off x="318778" y="1776087"/>
            <a:ext cx="7543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METHODOLOGY — END-TO-END PIPELINE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14287180" y="1680127"/>
            <a:ext cx="3671659" cy="439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2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/>
          </a:p>
        </p:txBody>
      </p:sp>
      <p:sp>
        <p:nvSpPr>
          <p:cNvPr id="244" name="Google Shape;244;p3"/>
          <p:cNvSpPr txBox="1"/>
          <p:nvPr/>
        </p:nvSpPr>
        <p:spPr>
          <a:xfrm>
            <a:off x="8923194" y="1504624"/>
            <a:ext cx="424408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9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IMPLEMENTATION FLOWCHART</a:t>
            </a:r>
            <a:endParaRPr/>
          </a:p>
        </p:txBody>
      </p:sp>
      <p:sp>
        <p:nvSpPr>
          <p:cNvPr id="245" name="Google Shape;245;p3"/>
          <p:cNvSpPr txBox="1"/>
          <p:nvPr/>
        </p:nvSpPr>
        <p:spPr>
          <a:xfrm>
            <a:off x="8465819" y="8276457"/>
            <a:ext cx="4961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IMPLEMENTATION PROTOTYPE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4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256" name="Google Shape;256;p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FEASIBILITY AND VIABILITY</a:t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10516487" y="1953510"/>
            <a:ext cx="7695546" cy="7924727"/>
            <a:chOff x="0" y="-28575"/>
            <a:chExt cx="2026811" cy="2087171"/>
          </a:xfrm>
        </p:grpSpPr>
        <p:sp>
          <p:nvSpPr>
            <p:cNvPr id="258" name="Google Shape;258;p4"/>
            <p:cNvSpPr/>
            <p:nvPr/>
          </p:nvSpPr>
          <p:spPr>
            <a:xfrm>
              <a:off x="0" y="0"/>
              <a:ext cx="2026811" cy="2058596"/>
            </a:xfrm>
            <a:custGeom>
              <a:rect b="b" l="l" r="r" t="t"/>
              <a:pathLst>
                <a:path extrusionOk="0" h="2058596" w="2026811">
                  <a:moveTo>
                    <a:pt x="0" y="0"/>
                  </a:moveTo>
                  <a:lnTo>
                    <a:pt x="2026811" y="0"/>
                  </a:lnTo>
                  <a:lnTo>
                    <a:pt x="2026811" y="2058596"/>
                  </a:lnTo>
                  <a:lnTo>
                    <a:pt x="0" y="2058596"/>
                  </a:lnTo>
                  <a:close/>
                </a:path>
              </a:pathLst>
            </a:custGeom>
            <a:solidFill>
              <a:srgbClr val="FBFCF9"/>
            </a:solidFill>
            <a:ln cap="sq" cmpd="sng" w="38100">
              <a:solidFill>
                <a:srgbClr val="4EACA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9" name="Google Shape;259;p4"/>
            <p:cNvSpPr txBox="1"/>
            <p:nvPr/>
          </p:nvSpPr>
          <p:spPr>
            <a:xfrm>
              <a:off x="0" y="-28575"/>
              <a:ext cx="2026811" cy="2087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4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261" name="Google Shape;261;p4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ATOMIC-25</a:t>
              </a:r>
              <a:endParaRPr/>
            </a:p>
          </p:txBody>
        </p:sp>
      </p:grpSp>
      <p:sp>
        <p:nvSpPr>
          <p:cNvPr id="263" name="Google Shape;263;p4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264" name="Google Shape;264;p4"/>
          <p:cNvGraphicFramePr/>
          <p:nvPr/>
        </p:nvGraphicFramePr>
        <p:xfrm>
          <a:off x="5804473" y="2107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{84594F6F-9315-4A44-B9B4-A031003BCE09}</a:tableStyleId>
              </a:tblPr>
              <a:tblGrid>
                <a:gridCol w="1893175"/>
                <a:gridCol w="2651000"/>
              </a:tblGrid>
              <a:tr h="56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AAD"/>
                    </a:solidFill>
                  </a:tcPr>
                </a:tc>
              </a:tr>
              <a:tr h="79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Reliance on synthetic / public data for the prototype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built to plug in MOIL's real geological &amp; production data later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8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Generalization gap — strong validation, weaker independent performance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 spectral features with terrain &amp; environmental context (elevation, slope, rainfall, NDVI)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  <a:tr h="98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Multi-source data complexity (geology + satellite + equipment + weather)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 ETL + feature-engineering pipeline; explainable models (XGBoost) over deep learning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geospatial output hard for mine managers to interpret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 heat-map dashboard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5" name="Google Shape;265;p4"/>
          <p:cNvGraphicFramePr/>
          <p:nvPr/>
        </p:nvGraphicFramePr>
        <p:xfrm>
          <a:off x="5976157" y="7017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{84594F6F-9315-4A44-B9B4-A031003BCE09}</a:tableStyleId>
              </a:tblPr>
              <a:tblGrid>
                <a:gridCol w="2168200"/>
                <a:gridCol w="2032600"/>
              </a:tblGrid>
              <a:tr h="52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Factor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57"/>
                    </a:solidFill>
                  </a:tcPr>
                </a:tc>
              </a:tr>
              <a:tr h="4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Satellite Data (Sentinel-2)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222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 Available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Geological &amp; Production Data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222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 Prototype-ready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  <a:tr h="58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Integration (XGBoost + SHAP)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222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 Scalable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(React)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222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 Working Prototype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  <a:tr h="4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 Heatmap Layer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222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✓  Integratable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4"/>
          <p:cNvSpPr/>
          <p:nvPr/>
        </p:nvSpPr>
        <p:spPr>
          <a:xfrm>
            <a:off x="10710722" y="2779545"/>
            <a:ext cx="7307076" cy="6478755"/>
          </a:xfrm>
          <a:custGeom>
            <a:rect b="b" l="l" r="r" t="t"/>
            <a:pathLst>
              <a:path extrusionOk="0" h="6478755" w="7307076">
                <a:moveTo>
                  <a:pt x="0" y="0"/>
                </a:moveTo>
                <a:lnTo>
                  <a:pt x="7307076" y="0"/>
                </a:lnTo>
                <a:lnTo>
                  <a:pt x="7307076" y="6478755"/>
                </a:lnTo>
                <a:lnTo>
                  <a:pt x="0" y="6478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662" r="-1662" t="0"/>
            </a:stretch>
          </a:blipFill>
          <a:ln>
            <a:noFill/>
          </a:ln>
        </p:spPr>
      </p:sp>
      <p:grpSp>
        <p:nvGrpSpPr>
          <p:cNvPr id="267" name="Google Shape;267;p4"/>
          <p:cNvGrpSpPr/>
          <p:nvPr/>
        </p:nvGrpSpPr>
        <p:grpSpPr>
          <a:xfrm>
            <a:off x="110728" y="1999185"/>
            <a:ext cx="5525893" cy="8133308"/>
            <a:chOff x="0" y="-28575"/>
            <a:chExt cx="1455379" cy="2142106"/>
          </a:xfrm>
        </p:grpSpPr>
        <p:sp>
          <p:nvSpPr>
            <p:cNvPr id="268" name="Google Shape;268;p4"/>
            <p:cNvSpPr/>
            <p:nvPr/>
          </p:nvSpPr>
          <p:spPr>
            <a:xfrm>
              <a:off x="0" y="0"/>
              <a:ext cx="1455379" cy="2113531"/>
            </a:xfrm>
            <a:custGeom>
              <a:rect b="b" l="l" r="r" t="t"/>
              <a:pathLst>
                <a:path extrusionOk="0" h="2113531" w="1455379">
                  <a:moveTo>
                    <a:pt x="0" y="0"/>
                  </a:moveTo>
                  <a:lnTo>
                    <a:pt x="1455379" y="0"/>
                  </a:lnTo>
                  <a:lnTo>
                    <a:pt x="1455379" y="2113531"/>
                  </a:lnTo>
                  <a:lnTo>
                    <a:pt x="0" y="2113531"/>
                  </a:lnTo>
                  <a:close/>
                </a:path>
              </a:pathLst>
            </a:custGeom>
            <a:solidFill>
              <a:srgbClr val="FBFCF9"/>
            </a:solidFill>
            <a:ln cap="sq" cmpd="sng" w="38100">
              <a:solidFill>
                <a:srgbClr val="0070C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9" name="Google Shape;269;p4"/>
            <p:cNvSpPr txBox="1"/>
            <p:nvPr/>
          </p:nvSpPr>
          <p:spPr>
            <a:xfrm>
              <a:off x="0" y="-28575"/>
              <a:ext cx="1455379" cy="2142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63818" lvl="1" marL="356235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4"/>
          <p:cNvSpPr txBox="1"/>
          <p:nvPr/>
        </p:nvSpPr>
        <p:spPr>
          <a:xfrm>
            <a:off x="5756187" y="1474269"/>
            <a:ext cx="464073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CHALLENGES  &amp;  MITIGATION </a:t>
            </a:r>
            <a:endParaRPr/>
          </a:p>
        </p:txBody>
      </p:sp>
      <p:sp>
        <p:nvSpPr>
          <p:cNvPr id="271" name="Google Shape;271;p4"/>
          <p:cNvSpPr txBox="1"/>
          <p:nvPr/>
        </p:nvSpPr>
        <p:spPr>
          <a:xfrm>
            <a:off x="6339539" y="6620644"/>
            <a:ext cx="3474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FEASIBILITY CHECK</a:t>
            </a:r>
            <a:endParaRPr/>
          </a:p>
        </p:txBody>
      </p:sp>
      <p:sp>
        <p:nvSpPr>
          <p:cNvPr id="272" name="Google Shape;272;p4"/>
          <p:cNvSpPr txBox="1"/>
          <p:nvPr/>
        </p:nvSpPr>
        <p:spPr>
          <a:xfrm>
            <a:off x="475612" y="1669531"/>
            <a:ext cx="464073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FEASIBILITY CHALENGES</a:t>
            </a:r>
            <a:endParaRPr/>
          </a:p>
        </p:txBody>
      </p:sp>
      <p:sp>
        <p:nvSpPr>
          <p:cNvPr id="273" name="Google Shape;273;p4"/>
          <p:cNvSpPr txBox="1"/>
          <p:nvPr/>
        </p:nvSpPr>
        <p:spPr>
          <a:xfrm>
            <a:off x="0" y="2107675"/>
            <a:ext cx="5636700" cy="8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8632" lvl="1" marL="389964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6"/>
              <a:buFont typeface="Calibri"/>
              <a:buAutoNum type="arabicPeriod"/>
            </a:pPr>
            <a:r>
              <a:rPr b="1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Confidentiality &amp; Data Sparsity Limits: </a:t>
            </a:r>
            <a:r>
              <a:rPr b="0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Live corporate mining telemetry (equipment SCADA logs, actual daily yields, blasting records) is proprietary, highly sensitive, and inaccessible during the hackathon environment.</a:t>
            </a:r>
            <a:endParaRPr sz="1300"/>
          </a:p>
          <a:p>
            <a:pPr indent="-188632" lvl="1" marL="389964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6"/>
              <a:buFont typeface="Calibri"/>
              <a:buAutoNum type="arabicPeriod"/>
            </a:pPr>
            <a:r>
              <a:rPr b="1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Spectral Ambiguity &amp; Terrain-Based False Positives: </a:t>
            </a:r>
            <a:r>
              <a:rPr b="0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Relying solely on optical and multi-spectral surface satellite signatures (Sentinel-2) leads to false positive mineral predictions across varying landforms and soil conditions.</a:t>
            </a:r>
            <a:endParaRPr sz="1300"/>
          </a:p>
          <a:p>
            <a:pPr indent="-188632" lvl="1" marL="389964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6"/>
              <a:buFont typeface="Calibri"/>
              <a:buAutoNum type="arabicPeriod"/>
            </a:pPr>
            <a:r>
              <a:rPr b="1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Complex Interdependent Operational Bottlenecks: </a:t>
            </a:r>
            <a:r>
              <a:rPr b="0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Mining shortfalls stem from chaotic, non-linear variables—heavy rainfall, equipment mechanical failure—making standard linear predictions inaccurate and black-box AI untrusted by mine managers.</a:t>
            </a:r>
            <a:endParaRPr sz="1300"/>
          </a:p>
          <a:p>
            <a:pPr indent="-188632" lvl="1" marL="389964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6"/>
              <a:buFont typeface="Calibri"/>
              <a:buAutoNum type="arabicPeriod"/>
            </a:pPr>
            <a:r>
              <a:rPr b="1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Engineering Mitigations--Open Spatial Baseline with Plug-and-Play Architecture:</a:t>
            </a:r>
            <a:r>
              <a:rPr b="0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The prototype is trained and validated on open-access Sentinel-2 multi-spectral imagery and USGS/GSI geological survey datasets. The backend provides standardized REST API ETL endpoints so MOIL’s live confidential enterprise feeds plug directly into the model post-hackathon without architectural changes.</a:t>
            </a:r>
            <a:endParaRPr sz="1300"/>
          </a:p>
          <a:p>
            <a:pPr indent="-188632" lvl="1" marL="389964" marR="0" rtl="0" algn="l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6"/>
              <a:buFont typeface="Calibri"/>
              <a:buAutoNum type="arabicPeriod"/>
            </a:pPr>
            <a:r>
              <a:rPr b="1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Multi-Modal Spatial Feature Enrichment: </a:t>
            </a:r>
            <a:r>
              <a:rPr b="0" i="0" lang="en-US" sz="1706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Combines Sentinel-2 spectral indices (NDVI, NDWI, BSI) with SRTM elevation, slope, and terrain relief data. Fusing physical topographic context with surface signatures eliminates generalization gaps and removes terrain-driven false positives.</a:t>
            </a:r>
            <a:endParaRPr sz="1300"/>
          </a:p>
          <a:p>
            <a:pPr indent="0" lvl="0" marL="0" marR="0" rtl="0" algn="l">
              <a:lnSpc>
                <a:spcPct val="113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6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5"/>
          <p:cNvGrpSpPr/>
          <p:nvPr/>
        </p:nvGrpSpPr>
        <p:grpSpPr>
          <a:xfrm>
            <a:off x="800100" y="150019"/>
            <a:ext cx="16459200" cy="1735931"/>
            <a:chOff x="0" y="-28575"/>
            <a:chExt cx="21945600" cy="2314575"/>
          </a:xfrm>
        </p:grpSpPr>
        <p:sp>
          <p:nvSpPr>
            <p:cNvPr id="283" name="Google Shape;283;p5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284" name="Google Shape;284;p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IMPACT AND BENEFITS</a:t>
              </a:r>
              <a:endParaRPr/>
            </a:p>
          </p:txBody>
        </p:sp>
      </p:grpSp>
      <p:grpSp>
        <p:nvGrpSpPr>
          <p:cNvPr id="285" name="Google Shape;285;p5"/>
          <p:cNvGrpSpPr/>
          <p:nvPr/>
        </p:nvGrpSpPr>
        <p:grpSpPr>
          <a:xfrm>
            <a:off x="3759832" y="9315451"/>
            <a:ext cx="4267200" cy="766763"/>
            <a:chOff x="0" y="-19050"/>
            <a:chExt cx="5689600" cy="1022350"/>
          </a:xfrm>
        </p:grpSpPr>
        <p:sp>
          <p:nvSpPr>
            <p:cNvPr id="286" name="Google Shape;286;p5"/>
            <p:cNvSpPr/>
            <p:nvPr/>
          </p:nvSpPr>
          <p:spPr>
            <a:xfrm>
              <a:off x="0" y="0"/>
              <a:ext cx="5689600" cy="1003300"/>
            </a:xfrm>
            <a:custGeom>
              <a:rect b="b" l="l" r="r" t="t"/>
              <a:pathLst>
                <a:path extrusionOk="0" h="10033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1003300"/>
                  </a:lnTo>
                  <a:lnTo>
                    <a:pt x="0" y="10033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888" l="0" r="0" t="-74106"/>
              </a:stretch>
            </a:blipFill>
            <a:ln>
              <a:noFill/>
            </a:ln>
          </p:spPr>
        </p:sp>
        <p:sp>
          <p:nvSpPr>
            <p:cNvPr id="287" name="Google Shape;287;p5"/>
            <p:cNvSpPr txBox="1"/>
            <p:nvPr/>
          </p:nvSpPr>
          <p:spPr>
            <a:xfrm>
              <a:off x="0" y="-19050"/>
              <a:ext cx="5689600" cy="1022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5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289" name="Google Shape;289;p5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ATOMIC-25</a:t>
              </a:r>
              <a:endParaRPr/>
            </a:p>
          </p:txBody>
        </p:sp>
      </p:grpSp>
      <p:sp>
        <p:nvSpPr>
          <p:cNvPr id="291" name="Google Shape;291;p5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pSp>
        <p:nvGrpSpPr>
          <p:cNvPr id="292" name="Google Shape;292;p5"/>
          <p:cNvGrpSpPr/>
          <p:nvPr/>
        </p:nvGrpSpPr>
        <p:grpSpPr>
          <a:xfrm>
            <a:off x="475612" y="7396095"/>
            <a:ext cx="5417820" cy="2168843"/>
            <a:chOff x="0" y="-57150"/>
            <a:chExt cx="7223760" cy="2891790"/>
          </a:xfrm>
        </p:grpSpPr>
        <p:sp>
          <p:nvSpPr>
            <p:cNvPr id="293" name="Google Shape;293;p5"/>
            <p:cNvSpPr/>
            <p:nvPr/>
          </p:nvSpPr>
          <p:spPr>
            <a:xfrm>
              <a:off x="0" y="0"/>
              <a:ext cx="7223760" cy="2834640"/>
            </a:xfrm>
            <a:custGeom>
              <a:rect b="b" l="l" r="r" t="t"/>
              <a:pathLst>
                <a:path extrusionOk="0" h="2834640" w="7223760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lnTo>
                    <a:pt x="6940296" y="0"/>
                  </a:lnTo>
                  <a:cubicBezTo>
                    <a:pt x="7096887" y="0"/>
                    <a:pt x="7223760" y="126873"/>
                    <a:pt x="7223760" y="283464"/>
                  </a:cubicBezTo>
                  <a:lnTo>
                    <a:pt x="7223760" y="2551176"/>
                  </a:lnTo>
                  <a:cubicBezTo>
                    <a:pt x="7223760" y="2707767"/>
                    <a:pt x="7096887" y="2834640"/>
                    <a:pt x="6940296" y="2834640"/>
                  </a:cubicBezTo>
                  <a:lnTo>
                    <a:pt x="283464" y="2834640"/>
                  </a:lnTo>
                  <a:cubicBezTo>
                    <a:pt x="126873" y="2834640"/>
                    <a:pt x="0" y="2707767"/>
                    <a:pt x="0" y="2551176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 txBox="1"/>
            <p:nvPr/>
          </p:nvSpPr>
          <p:spPr>
            <a:xfrm>
              <a:off x="0" y="-57150"/>
              <a:ext cx="7223760" cy="2891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74" u="none" cap="none" strike="noStrike">
                  <a:solidFill>
                    <a:srgbClr val="455A64"/>
                  </a:solidFill>
                  <a:latin typeface="Calibri"/>
                  <a:ea typeface="Calibri"/>
                  <a:cs typeface="Calibri"/>
                  <a:sym typeface="Calibri"/>
                </a:rPr>
                <a:t>SOCIAL</a:t>
              </a:r>
              <a:endParaRPr/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 Faster, transparent decisions for MOIL managers</a:t>
              </a:r>
              <a:endParaRPr sz="1300"/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•  Less reliance on manual survey interpretation</a:t>
              </a:r>
              <a:endParaRPr sz="1300"/>
            </a:p>
          </p:txBody>
        </p:sp>
      </p:grpSp>
      <p:grpSp>
        <p:nvGrpSpPr>
          <p:cNvPr id="295" name="Google Shape;295;p5"/>
          <p:cNvGrpSpPr/>
          <p:nvPr/>
        </p:nvGrpSpPr>
        <p:grpSpPr>
          <a:xfrm>
            <a:off x="6201350" y="1843074"/>
            <a:ext cx="5417827" cy="5530725"/>
            <a:chOff x="-9" y="-57168"/>
            <a:chExt cx="7223769" cy="7374300"/>
          </a:xfrm>
        </p:grpSpPr>
        <p:sp>
          <p:nvSpPr>
            <p:cNvPr id="296" name="Google Shape;296;p5"/>
            <p:cNvSpPr/>
            <p:nvPr/>
          </p:nvSpPr>
          <p:spPr>
            <a:xfrm>
              <a:off x="0" y="0"/>
              <a:ext cx="7223760" cy="6843333"/>
            </a:xfrm>
            <a:custGeom>
              <a:rect b="b" l="l" r="r" t="t"/>
              <a:pathLst>
                <a:path extrusionOk="0" h="6843333" w="7223760">
                  <a:moveTo>
                    <a:pt x="0" y="684333"/>
                  </a:moveTo>
                  <a:cubicBezTo>
                    <a:pt x="0" y="306294"/>
                    <a:pt x="126873" y="0"/>
                    <a:pt x="283464" y="0"/>
                  </a:cubicBezTo>
                  <a:lnTo>
                    <a:pt x="6940296" y="0"/>
                  </a:lnTo>
                  <a:cubicBezTo>
                    <a:pt x="7096887" y="0"/>
                    <a:pt x="7223760" y="306294"/>
                    <a:pt x="7223760" y="684333"/>
                  </a:cubicBezTo>
                  <a:lnTo>
                    <a:pt x="7223760" y="6159000"/>
                  </a:lnTo>
                  <a:cubicBezTo>
                    <a:pt x="7223760" y="6537038"/>
                    <a:pt x="7096887" y="6843333"/>
                    <a:pt x="6940296" y="6843333"/>
                  </a:cubicBezTo>
                  <a:lnTo>
                    <a:pt x="283464" y="6843333"/>
                  </a:lnTo>
                  <a:cubicBezTo>
                    <a:pt x="126873" y="6843333"/>
                    <a:pt x="0" y="6537038"/>
                    <a:pt x="0" y="615900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 txBox="1"/>
            <p:nvPr/>
          </p:nvSpPr>
          <p:spPr>
            <a:xfrm>
              <a:off x="-9" y="-57168"/>
              <a:ext cx="7223700" cy="73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74" u="none" cap="none" strike="noStrike">
                  <a:solidFill>
                    <a:srgbClr val="E67E22"/>
                  </a:solidFill>
                  <a:latin typeface="Calibri"/>
                  <a:ea typeface="Calibri"/>
                  <a:cs typeface="Calibri"/>
                  <a:sym typeface="Calibri"/>
                </a:rPr>
                <a:t>ECONOMIC</a:t>
              </a:r>
              <a:endParaRPr/>
            </a:p>
            <a:p>
              <a:pPr indent="-24558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274"/>
                <a:buFont typeface="Arial"/>
                <a:buChar char="•"/>
              </a:pPr>
              <a:r>
                <a:rPr b="0" i="0" lang="en-US" sz="22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 Secures Raw Material Supply: Stabilizes domestic manganese availability to support national steel production mandates. </a:t>
              </a:r>
              <a:endParaRPr/>
            </a:p>
            <a:p>
              <a:pPr indent="-23923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174"/>
                <a:buFont typeface="Arial"/>
                <a:buChar char="•"/>
              </a:pP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Fleet &amp; Machinery Optimization: Increases heavy machinery operating efficiency across open-cast and underground mines. </a:t>
              </a:r>
              <a:endParaRPr sz="1300"/>
            </a:p>
            <a:p>
              <a:pPr indent="-23923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174"/>
                <a:buFont typeface="Arial"/>
                <a:buChar char="•"/>
              </a:pP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Prescriptive Workflows: Transforms passive mining telemetry logs into automated, actionable operational decisions.</a:t>
              </a:r>
              <a:endParaRPr sz="1300"/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74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5"/>
          <p:cNvGrpSpPr/>
          <p:nvPr/>
        </p:nvGrpSpPr>
        <p:grpSpPr>
          <a:xfrm>
            <a:off x="11927103" y="1843087"/>
            <a:ext cx="5417820" cy="4832463"/>
            <a:chOff x="0" y="-57150"/>
            <a:chExt cx="7223760" cy="6443283"/>
          </a:xfrm>
        </p:grpSpPr>
        <p:sp>
          <p:nvSpPr>
            <p:cNvPr id="299" name="Google Shape;299;p5"/>
            <p:cNvSpPr/>
            <p:nvPr/>
          </p:nvSpPr>
          <p:spPr>
            <a:xfrm>
              <a:off x="0" y="0"/>
              <a:ext cx="7223760" cy="6386133"/>
            </a:xfrm>
            <a:custGeom>
              <a:rect b="b" l="l" r="r" t="t"/>
              <a:pathLst>
                <a:path extrusionOk="0" h="6386133" w="7223760">
                  <a:moveTo>
                    <a:pt x="0" y="638613"/>
                  </a:moveTo>
                  <a:cubicBezTo>
                    <a:pt x="0" y="285831"/>
                    <a:pt x="126873" y="0"/>
                    <a:pt x="283464" y="0"/>
                  </a:cubicBezTo>
                  <a:lnTo>
                    <a:pt x="6940296" y="0"/>
                  </a:lnTo>
                  <a:cubicBezTo>
                    <a:pt x="7096887" y="0"/>
                    <a:pt x="7223760" y="285831"/>
                    <a:pt x="7223760" y="638613"/>
                  </a:cubicBezTo>
                  <a:lnTo>
                    <a:pt x="7223760" y="5747520"/>
                  </a:lnTo>
                  <a:cubicBezTo>
                    <a:pt x="7223760" y="6100302"/>
                    <a:pt x="7096887" y="6386133"/>
                    <a:pt x="6940296" y="6386133"/>
                  </a:cubicBezTo>
                  <a:lnTo>
                    <a:pt x="283464" y="6386133"/>
                  </a:lnTo>
                  <a:cubicBezTo>
                    <a:pt x="126873" y="6386133"/>
                    <a:pt x="0" y="6100302"/>
                    <a:pt x="0" y="574752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 txBox="1"/>
            <p:nvPr/>
          </p:nvSpPr>
          <p:spPr>
            <a:xfrm>
              <a:off x="0" y="-57150"/>
              <a:ext cx="7223760" cy="6443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74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ENVIRONMENTAL</a:t>
              </a:r>
              <a:endParaRPr/>
            </a:p>
            <a:p>
              <a:pPr indent="-24558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274"/>
                <a:buFont typeface="Arial"/>
                <a:buChar char="•"/>
              </a:pPr>
              <a:r>
                <a:rPr b="0" i="0" lang="en-US" sz="22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Reduced Ecological Footprint: Minimizes unnecessary ground clearing and exploratory drilling in forested mineral zones. </a:t>
              </a:r>
              <a:endParaRPr/>
            </a:p>
            <a:p>
              <a:pPr indent="-24558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274"/>
                <a:buFont typeface="Arial"/>
                <a:buChar char="•"/>
              </a:pPr>
              <a:r>
                <a:rPr b="0" i="0" lang="en-US" sz="22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argeted Surface Extraction: Focuses mining operations strictly on high-probability, high-grade ore bodies. </a:t>
              </a:r>
              <a:endParaRPr sz="1300"/>
            </a:p>
            <a:p>
              <a:pPr indent="-239234" lvl="1" marL="491169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222"/>
                </a:buClr>
                <a:buSzPts val="2174"/>
                <a:buFont typeface="Arial"/>
                <a:buChar char="•"/>
              </a:pPr>
              <a:r>
                <a:rPr b="0" i="0" lang="en-US" sz="2174" u="none" cap="none" strike="noStrike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Lower Carbon Intensity: Optimizes haul truck routes and equipment runtime, directly reducing diesel fuel consumption.</a:t>
              </a:r>
              <a:endParaRPr sz="1300"/>
            </a:p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74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5"/>
          <p:cNvSpPr txBox="1"/>
          <p:nvPr/>
        </p:nvSpPr>
        <p:spPr>
          <a:xfrm>
            <a:off x="0" y="6037709"/>
            <a:ext cx="557023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SHORTFALL RISK CLASSIFICATION</a:t>
            </a:r>
            <a:endParaRPr/>
          </a:p>
        </p:txBody>
      </p:sp>
      <p:graphicFrame>
        <p:nvGraphicFramePr>
          <p:cNvPr id="302" name="Google Shape;302;p5"/>
          <p:cNvGraphicFramePr/>
          <p:nvPr/>
        </p:nvGraphicFramePr>
        <p:xfrm>
          <a:off x="12438535" y="70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{84594F6F-9315-4A44-B9B4-A031003BCE09}</a:tableStyleId>
              </a:tblPr>
              <a:tblGrid>
                <a:gridCol w="2237100"/>
                <a:gridCol w="2583675"/>
              </a:tblGrid>
              <a:tr h="71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Shortfall vs Plan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24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Level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56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– 5%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56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– 15%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E22"/>
                    </a:solidFill>
                  </a:tcPr>
                </a:tc>
              </a:tr>
              <a:tr h="56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– 25%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5A00"/>
                    </a:solidFill>
                  </a:tcPr>
                </a:tc>
              </a:tr>
              <a:tr h="56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25%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4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pic>
        <p:nvPicPr>
          <p:cNvPr id="303" name="Google Shape;3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9056" y="7205965"/>
            <a:ext cx="6837870" cy="34460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5"/>
          <p:cNvGrpSpPr/>
          <p:nvPr/>
        </p:nvGrpSpPr>
        <p:grpSpPr>
          <a:xfrm>
            <a:off x="475612" y="1914358"/>
            <a:ext cx="5417820" cy="5104091"/>
            <a:chOff x="0" y="-57150"/>
            <a:chExt cx="7223760" cy="6805456"/>
          </a:xfrm>
        </p:grpSpPr>
        <p:sp>
          <p:nvSpPr>
            <p:cNvPr id="305" name="Google Shape;305;p5"/>
            <p:cNvSpPr/>
            <p:nvPr/>
          </p:nvSpPr>
          <p:spPr>
            <a:xfrm>
              <a:off x="0" y="0"/>
              <a:ext cx="7223760" cy="6748306"/>
            </a:xfrm>
            <a:custGeom>
              <a:rect b="b" l="l" r="r" t="t"/>
              <a:pathLst>
                <a:path extrusionOk="0" h="6748306" w="7223760">
                  <a:moveTo>
                    <a:pt x="0" y="674831"/>
                  </a:moveTo>
                  <a:cubicBezTo>
                    <a:pt x="0" y="302041"/>
                    <a:pt x="126873" y="0"/>
                    <a:pt x="283464" y="0"/>
                  </a:cubicBezTo>
                  <a:lnTo>
                    <a:pt x="6940296" y="0"/>
                  </a:lnTo>
                  <a:cubicBezTo>
                    <a:pt x="7096887" y="0"/>
                    <a:pt x="7223760" y="302041"/>
                    <a:pt x="7223760" y="674831"/>
                  </a:cubicBezTo>
                  <a:lnTo>
                    <a:pt x="7223760" y="6073475"/>
                  </a:lnTo>
                  <a:cubicBezTo>
                    <a:pt x="7223760" y="6446265"/>
                    <a:pt x="7096887" y="6748306"/>
                    <a:pt x="6940296" y="6748306"/>
                  </a:cubicBezTo>
                  <a:lnTo>
                    <a:pt x="283464" y="6748306"/>
                  </a:lnTo>
                  <a:cubicBezTo>
                    <a:pt x="126873" y="6748306"/>
                    <a:pt x="0" y="6446265"/>
                    <a:pt x="0" y="6073475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0" y="-57150"/>
              <a:ext cx="7223760" cy="6805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74" u="none" cap="none" strike="noStrike">
                  <a:solidFill>
                    <a:srgbClr val="8F3578"/>
                  </a:solidFill>
                  <a:latin typeface="Calibri"/>
                  <a:ea typeface="Calibri"/>
                  <a:cs typeface="Calibri"/>
                  <a:sym typeface="Calibri"/>
                </a:rPr>
                <a:t>National Vision &amp; Aatmanirbhar Bharat Alignment</a:t>
              </a:r>
              <a:endParaRPr/>
            </a:p>
            <a:p>
              <a:pPr indent="-228440" lvl="1" marL="469581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455A64"/>
                </a:buClr>
                <a:buSzPts val="2074"/>
                <a:buChar char="•"/>
              </a:pPr>
              <a:r>
                <a:rPr b="1" i="0" lang="en-US" sz="2074" u="none" cap="none" strike="noStrike">
                  <a:solidFill>
                    <a:srgbClr val="455A64"/>
                  </a:solidFill>
                  <a:latin typeface="Calibri"/>
                  <a:ea typeface="Calibri"/>
                  <a:cs typeface="Calibri"/>
                  <a:sym typeface="Calibri"/>
                </a:rPr>
                <a:t>Strategic Mineral Security: Reduces national reliance on manganese ore imports by optimizing domestic reserve extraction. </a:t>
              </a:r>
              <a:endParaRPr b="1" sz="1300"/>
            </a:p>
            <a:p>
              <a:pPr indent="-228440" lvl="1" marL="469581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455A64"/>
                </a:buClr>
                <a:buSzPts val="2074"/>
                <a:buChar char="•"/>
              </a:pPr>
              <a:r>
                <a:rPr b="1" i="0" lang="en-US" sz="2074" u="none" cap="none" strike="noStrike">
                  <a:solidFill>
                    <a:srgbClr val="455A64"/>
                  </a:solidFill>
                  <a:latin typeface="Calibri"/>
                  <a:ea typeface="Calibri"/>
                  <a:cs typeface="Calibri"/>
                  <a:sym typeface="Calibri"/>
                </a:rPr>
                <a:t>Leveraging Space Assets: Maximizes the utility of open space technology (Sentinel-2) for national industrial development. </a:t>
              </a:r>
              <a:endParaRPr b="1" sz="1300"/>
            </a:p>
            <a:p>
              <a:pPr indent="-228440" lvl="1" marL="469581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455A64"/>
                </a:buClr>
                <a:buSzPts val="2074"/>
                <a:buChar char="•"/>
              </a:pPr>
              <a:r>
                <a:rPr b="1" i="0" lang="en-US" sz="2074" u="none" cap="none" strike="noStrike">
                  <a:solidFill>
                    <a:srgbClr val="455A64"/>
                  </a:solidFill>
                  <a:latin typeface="Calibri"/>
                  <a:ea typeface="Calibri"/>
                  <a:cs typeface="Calibri"/>
                  <a:sym typeface="Calibri"/>
                </a:rPr>
                <a:t>Scalable National Framework: Creates a deployable AI template adaptable to other critical minerals (Iron Ore, Bauxite, Chromite). </a:t>
              </a:r>
              <a:endParaRPr b="1" sz="1300"/>
            </a:p>
            <a:p>
              <a:pPr indent="0" lvl="0" marL="0" marR="0" rtl="0" algn="l">
                <a:lnSpc>
                  <a:spcPct val="1420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4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5"/>
          <p:cNvSpPr/>
          <p:nvPr/>
        </p:nvSpPr>
        <p:spPr>
          <a:xfrm>
            <a:off x="16599248" y="4712183"/>
            <a:ext cx="1902670" cy="2306266"/>
          </a:xfrm>
          <a:custGeom>
            <a:rect b="b" l="l" r="r" t="t"/>
            <a:pathLst>
              <a:path extrusionOk="0" h="2306266" w="1902670">
                <a:moveTo>
                  <a:pt x="0" y="0"/>
                </a:moveTo>
                <a:lnTo>
                  <a:pt x="1902670" y="0"/>
                </a:lnTo>
                <a:lnTo>
                  <a:pt x="1902670" y="2306267"/>
                </a:lnTo>
                <a:lnTo>
                  <a:pt x="0" y="2306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5"/>
          <p:cNvSpPr/>
          <p:nvPr/>
        </p:nvSpPr>
        <p:spPr>
          <a:xfrm>
            <a:off x="0" y="5865316"/>
            <a:ext cx="1615059" cy="2057400"/>
          </a:xfrm>
          <a:custGeom>
            <a:rect b="b" l="l" r="r" t="t"/>
            <a:pathLst>
              <a:path extrusionOk="0" h="2057400" w="1615059">
                <a:moveTo>
                  <a:pt x="0" y="0"/>
                </a:moveTo>
                <a:lnTo>
                  <a:pt x="1615059" y="0"/>
                </a:lnTo>
                <a:lnTo>
                  <a:pt x="161505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5"/>
          <p:cNvSpPr txBox="1"/>
          <p:nvPr/>
        </p:nvSpPr>
        <p:spPr>
          <a:xfrm>
            <a:off x="6592328" y="7373897"/>
            <a:ext cx="4635878" cy="308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SAMPLE SHORTFALL ROOT-CAUSE BREAKDOWN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6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319" name="Google Shape;319;p6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320" name="Google Shape;320;p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RESEARCH  AND REFERENCES</a:t>
              </a:r>
              <a:endParaRPr/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</p:sp>
        <p:sp>
          <p:nvSpPr>
            <p:cNvPr id="323" name="Google Shape;323;p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  <a:endParaRPr/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325" name="Google Shape;325;p6"/>
            <p:cNvSpPr/>
            <p:nvPr/>
          </p:nvSpPr>
          <p:spPr>
            <a:xfrm>
              <a:off x="0" y="0"/>
              <a:ext cx="6408000" cy="730250"/>
            </a:xfrm>
            <a:custGeom>
              <a:rect b="b" l="l" r="r" t="t"/>
              <a:pathLst>
                <a:path extrusionOk="0"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0" t="-120987"/>
              </a:stretch>
            </a:blipFill>
            <a:ln>
              <a:noFill/>
            </a:ln>
          </p:spPr>
        </p:sp>
        <p:sp>
          <p:nvSpPr>
            <p:cNvPr id="326" name="Google Shape;326;p6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  <a:endParaRPr/>
            </a:p>
          </p:txBody>
        </p:sp>
      </p:grpSp>
      <p:grpSp>
        <p:nvGrpSpPr>
          <p:cNvPr id="327" name="Google Shape;327;p6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328" name="Google Shape;328;p6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ATOMIC-25</a:t>
              </a:r>
              <a:endParaRPr/>
            </a:p>
          </p:txBody>
        </p:sp>
      </p:grpSp>
      <p:sp>
        <p:nvSpPr>
          <p:cNvPr id="330" name="Google Shape;330;p6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331" name="Google Shape;331;p6"/>
          <p:cNvGraphicFramePr/>
          <p:nvPr/>
        </p:nvGraphicFramePr>
        <p:xfrm>
          <a:off x="657225" y="1643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{84594F6F-9315-4A44-B9B4-A031003BCE09}</a:tableStyleId>
              </a:tblPr>
              <a:tblGrid>
                <a:gridCol w="2701575"/>
                <a:gridCol w="4258900"/>
                <a:gridCol w="5994650"/>
                <a:gridCol w="4018425"/>
              </a:tblGrid>
              <a:tr h="52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Usage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135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Sentinel-2 Multi-Spectral Imagery (MSI)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to construct spectral signatures (NDVI, NDWI, BSI) for identifying surface environmental indicators associated with manganese deposits.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ESA Sentinel-2 User Handbook: Validated band configurations for geological surface characterization and mineral mapping.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Optical and Short-Wave Infrared (SWIR) satellite bands (B02–B12) capturing surface reflectance, vegetation, and soil moisture indices.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SRTM Digital Elevation Model (DEM)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Enriches spatial feature vectors with physical terrain context to eliminate spectral ambiguity across diverse landforms.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NASA SRTM Global Data v3: Validated 30m spatial resolution terrain parameters for geo-spatial modeling.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Space Shuttle Radar Topography Mission high-resolution topographic raster layers (Elevation, Slope, Aspect, Relief).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  <a:tr h="131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Predictive Modeling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Powers the "Reserve Engine" (mapping ore probability) and "Production Engine" (forecasting 7/30/90-day yield shortfalls).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Breiman, L. "Random Forests," Machine Learning, 45(1), 5-32, 2001. (Achieves robust performance against overfitting on tabular mining logs).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Non-parametric ensemble learning algorithm operating via multi-tree decision aggregation for classification and regression tasks.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Gini Impurity &amp; MDI Feature Importance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Serves as the explainability engine to identify primary shortfall root causes (e.g., ranking Equipment Downtime vs. Rainfall impact).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Hastie, T., et al. "The Elements of Statistical Learning," Springer, 2009. (Standard method for feature attribution in tree ensembles).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Decrease in Impurity (MDI) analysis derived from Random Forest tree splits to quantify relative variable contributions.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  <a:tr h="96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PostGIS &amp; Cloud Optimized GeoTIFFs (COGs)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Enables rapid spatial querying and rendering of GIS prospectivity heatmaps and historical mine layers on the dashboard.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Geospatial Consortium (OGC) Standards: Validated framework for high-throughput spatial vector and raster data serving.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Spatial database extension and cloud-native raster formats for high-speed spatial indexing and multidimensional querying.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0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 Predictive Modeling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as a benchmark ensemble classifier to validate feature interactions and compare baseline precision against the primary Random Forest models.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Chen, T., &amp; Guestrin, C. "XGBoost: A Scalable Tree Boosting System," </a:t>
                      </a:r>
                      <a:r>
                        <a:rPr i="1" lang="en-US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ACM KDD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785-794, 2016. (Validated framework for high-dimensional tabular classification).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Optimized gradient boosted decision tree framework designed for efficient, parallelized tree boosting on structured and tabular data. </a:t>
                      </a:r>
                      <a:endParaRPr sz="11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